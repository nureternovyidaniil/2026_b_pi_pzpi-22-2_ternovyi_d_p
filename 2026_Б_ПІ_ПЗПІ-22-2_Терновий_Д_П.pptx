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67" r:id="rId15"/>
    <p:sldId id="272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77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7DA72-ED82-459E-8DA3-587889F069F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B1B1D-7461-4EDD-940B-A10F1B1F9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9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B1B1D-7461-4EDD-940B-A10F1B1F9C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17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Харківський національний університет радіоелектроніки
Кафедра програмної інженерії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 err="1">
                <a:solidFill>
                  <a:schemeClr val="bg1"/>
                </a:solidFill>
                <a:latin typeface="Calibri"/>
              </a:rPr>
              <a:t>Інтелектуальна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платформа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мультиагентної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взаємодії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для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створення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програмних</a:t>
            </a:r>
            <a:r>
              <a:rPr sz="36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3600" b="1" dirty="0" err="1">
                <a:solidFill>
                  <a:schemeClr val="bg1"/>
                </a:solidFill>
                <a:latin typeface="Calibri"/>
              </a:rPr>
              <a:t>проєктів</a:t>
            </a:r>
            <a:r>
              <a:rPr lang="uk-UA" sz="3600" b="1" dirty="0">
                <a:solidFill>
                  <a:schemeClr val="bg1"/>
                </a:solidFill>
                <a:latin typeface="Calibri"/>
              </a:rPr>
              <a:t>.</a:t>
            </a:r>
            <a:endParaRPr sz="3600" b="1" dirty="0">
              <a:solidFill>
                <a:schemeClr val="bg1"/>
              </a:solidFill>
              <a:latin typeface="Calibri"/>
            </a:endParaRPr>
          </a:p>
          <a:p>
            <a:pPr algn="ctr"/>
            <a:r>
              <a:rPr sz="2800" b="1" dirty="0" err="1">
                <a:solidFill>
                  <a:schemeClr val="bg1"/>
                </a:solidFill>
                <a:latin typeface="Calibri"/>
              </a:rPr>
              <a:t>Створення</a:t>
            </a:r>
            <a:r>
              <a:rPr sz="2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1" dirty="0" err="1">
                <a:solidFill>
                  <a:schemeClr val="bg1"/>
                </a:solidFill>
                <a:latin typeface="Calibri"/>
              </a:rPr>
              <a:t>агентів</a:t>
            </a:r>
            <a:endParaRPr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067977"/>
            <a:ext cx="103628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 err="1">
                <a:solidFill>
                  <a:srgbClr val="F3F6FB"/>
                </a:solidFill>
                <a:latin typeface="Calibri"/>
              </a:rPr>
              <a:t>Терновий</a:t>
            </a:r>
            <a:r>
              <a:rPr sz="2000" b="0" dirty="0">
                <a:solidFill>
                  <a:srgbClr val="F3F6FB"/>
                </a:solidFill>
                <a:latin typeface="Calibri"/>
              </a:rPr>
              <a:t> Д</a:t>
            </a:r>
            <a:r>
              <a:rPr lang="uk-UA" sz="2000" b="0" dirty="0">
                <a:solidFill>
                  <a:srgbClr val="F3F6FB"/>
                </a:solidFill>
                <a:latin typeface="Calibri"/>
              </a:rPr>
              <a:t>анііл </a:t>
            </a:r>
            <a:r>
              <a:rPr sz="2000" b="0" dirty="0">
                <a:solidFill>
                  <a:srgbClr val="F3F6FB"/>
                </a:solidFill>
                <a:latin typeface="Calibri"/>
              </a:rPr>
              <a:t>П</a:t>
            </a:r>
            <a:r>
              <a:rPr lang="uk-UA" sz="2000" dirty="0">
                <a:solidFill>
                  <a:srgbClr val="F3F6FB"/>
                </a:solidFill>
                <a:latin typeface="Calibri"/>
              </a:rPr>
              <a:t>авлович</a:t>
            </a:r>
          </a:p>
          <a:p>
            <a:pPr algn="ctr"/>
            <a:r>
              <a:rPr lang="uk-UA" sz="2000" b="0" dirty="0">
                <a:solidFill>
                  <a:srgbClr val="F3F6FB"/>
                </a:solidFill>
                <a:latin typeface="Calibri"/>
              </a:rPr>
              <a:t>ПЗПІ – 22 – </a:t>
            </a:r>
            <a:r>
              <a:rPr lang="uk-UA" sz="2000" dirty="0">
                <a:solidFill>
                  <a:srgbClr val="F3F6FB"/>
                </a:solidFill>
                <a:latin typeface="Calibri"/>
              </a:rPr>
              <a:t>2</a:t>
            </a:r>
          </a:p>
          <a:p>
            <a:pPr algn="ctr"/>
            <a:r>
              <a:rPr sz="2000" b="0" dirty="0">
                <a:solidFill>
                  <a:srgbClr val="F3F6FB"/>
                </a:solidFill>
                <a:latin typeface="Calibri"/>
              </a:rPr>
              <a:t>
</a:t>
            </a:r>
            <a:r>
              <a:rPr sz="2000" b="0" dirty="0" err="1">
                <a:solidFill>
                  <a:srgbClr val="F3F6FB"/>
                </a:solidFill>
                <a:latin typeface="Calibri"/>
              </a:rPr>
              <a:t>Керівник</a:t>
            </a:r>
            <a:r>
              <a:rPr sz="2000" b="0" dirty="0">
                <a:solidFill>
                  <a:srgbClr val="F3F6FB"/>
                </a:solidFill>
                <a:latin typeface="Calibri"/>
              </a:rPr>
              <a:t>: </a:t>
            </a:r>
            <a:endParaRPr lang="uk-UA" sz="2000" b="0" dirty="0">
              <a:solidFill>
                <a:srgbClr val="F3F6FB"/>
              </a:solidFill>
              <a:latin typeface="Calibri"/>
            </a:endParaRPr>
          </a:p>
          <a:p>
            <a:pPr algn="ctr"/>
            <a:r>
              <a:rPr lang="uk-UA" sz="2000" b="0" dirty="0">
                <a:solidFill>
                  <a:srgbClr val="F3F6FB"/>
                </a:solidFill>
                <a:latin typeface="Calibri"/>
              </a:rPr>
              <a:t>доц. каф. ПІ Каук Віктор І</a:t>
            </a:r>
            <a:r>
              <a:rPr lang="uk-UA" sz="2000" dirty="0">
                <a:solidFill>
                  <a:srgbClr val="F3F6FB"/>
                </a:solidFill>
                <a:latin typeface="Calibri"/>
              </a:rPr>
              <a:t>ванович</a:t>
            </a:r>
            <a:endParaRPr lang="uk-UA" sz="2000" b="0" dirty="0">
              <a:solidFill>
                <a:srgbClr val="F3F6FB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 err="1">
                <a:solidFill>
                  <a:schemeClr val="bg1"/>
                </a:solidFill>
                <a:latin typeface="Calibri"/>
              </a:rPr>
              <a:t>Харків</a:t>
            </a:r>
            <a:r>
              <a:rPr sz="1800" b="0" dirty="0">
                <a:solidFill>
                  <a:schemeClr val="bg1"/>
                </a:solidFill>
                <a:latin typeface="Calibri"/>
              </a:rPr>
              <a:t> – 2026</a:t>
            </a:r>
          </a:p>
        </p:txBody>
      </p:sp>
      <p:pic>
        <p:nvPicPr>
          <p:cNvPr id="9" name="Google Shape;64;p13" descr="Google Shape;64;p13">
            <a:extLst>
              <a:ext uri="{FF2B5EF4-FFF2-40B4-BE49-F238E27FC236}">
                <a16:creationId xmlns:a16="http://schemas.microsoft.com/office/drawing/2014/main" id="{83B73CAE-19A2-8ABF-E6E3-118B6D496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Google Shape;66;p13" descr="Google Shape;66;p13">
            <a:extLst>
              <a:ext uri="{FF2B5EF4-FFF2-40B4-BE49-F238E27FC236}">
                <a16:creationId xmlns:a16="http://schemas.microsoft.com/office/drawing/2014/main" id="{D3EC1387-5C80-6EAC-C689-16E6A5C8243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87771" y="140346"/>
            <a:ext cx="2003924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Файл:Ministry of Education and Science of Ukraine (logo) uk.png — Вікіпедія">
            <a:extLst>
              <a:ext uri="{FF2B5EF4-FFF2-40B4-BE49-F238E27FC236}">
                <a16:creationId xmlns:a16="http://schemas.microsoft.com/office/drawing/2014/main" id="{2CDC9B3D-80B9-2ECF-496D-60BD3A12039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6873" y="202933"/>
            <a:ext cx="1812182" cy="322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ВСТУП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Мета та актуальність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2</a:t>
            </a:r>
          </a:p>
        </p:txBody>
      </p:sp>
      <p:pic>
        <p:nvPicPr>
          <p:cNvPr id="17" name="Google Shape;64;p13" descr="Google Shape;64;p13">
            <a:extLst>
              <a:ext uri="{FF2B5EF4-FFF2-40B4-BE49-F238E27FC236}">
                <a16:creationId xmlns:a16="http://schemas.microsoft.com/office/drawing/2014/main" id="{D5DEC3B5-D7EE-E55C-F927-C89971E2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Picture 13" descr="Agents In the AI-First Company - Evangelos Simoudis">
            <a:extLst>
              <a:ext uri="{FF2B5EF4-FFF2-40B4-BE49-F238E27FC236}">
                <a16:creationId xmlns:a16="http://schemas.microsoft.com/office/drawing/2014/main" id="{DC4D1B06-127A-E37F-CAF8-9BF5E2E3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242" y="3381111"/>
            <a:ext cx="5243210" cy="306540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941A35-FC9B-EDA3-2482-E4AB4223F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308080" cy="4525963"/>
          </a:xfrm>
        </p:spPr>
        <p:txBody>
          <a:bodyPr/>
          <a:lstStyle/>
          <a:p>
            <a:pPr marL="0" indent="0">
              <a:buNone/>
            </a:pPr>
            <a:r>
              <a:rPr lang="uk-UA" dirty="0">
                <a:solidFill>
                  <a:srgbClr val="1E2939"/>
                </a:solidFill>
              </a:rPr>
              <a:t>Проєктування та розробка інтелектуальної платформи </a:t>
            </a:r>
            <a:r>
              <a:rPr lang="en-US" dirty="0" err="1">
                <a:solidFill>
                  <a:srgbClr val="1E2939"/>
                </a:solidFill>
              </a:rPr>
              <a:t>AgentForge</a:t>
            </a:r>
            <a:r>
              <a:rPr lang="en-US" dirty="0">
                <a:solidFill>
                  <a:srgbClr val="1E2939"/>
                </a:solidFill>
              </a:rPr>
              <a:t> </a:t>
            </a:r>
            <a:r>
              <a:rPr lang="uk-UA" dirty="0">
                <a:solidFill>
                  <a:srgbClr val="1E2939"/>
                </a:solidFill>
              </a:rPr>
              <a:t>для автоматизації створення програмних проєктів шляхом координації команди ШІ-агентів.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АНАЛІЗ ПРЕДМЕТНОЇ ГАЛУЗІ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Огляд аналогів: Microsoft AutoGen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486400" cy="1986388"/>
          </a:xfrm>
          <a:prstGeom prst="roundRect">
            <a:avLst/>
          </a:prstGeom>
          <a:solidFill>
            <a:srgbClr val="E8F5E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 dirty="0" err="1">
                <a:solidFill>
                  <a:srgbClr val="2E7D4F"/>
                </a:solidFill>
                <a:latin typeface="Calibri"/>
              </a:rPr>
              <a:t>Переваги</a:t>
            </a:r>
            <a:endParaRPr sz="1800" b="1" dirty="0">
              <a:solidFill>
                <a:srgbClr val="2E7D4F"/>
              </a:solidFill>
              <a:latin typeface="Calibri"/>
            </a:endParaRPr>
          </a:p>
          <a:p>
            <a:endParaRPr sz="1800" b="1" dirty="0">
              <a:solidFill>
                <a:srgbClr val="2E7D4F"/>
              </a:solidFill>
              <a:latin typeface="Calibri"/>
            </a:endParaRP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Детальне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налаштування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параметрів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кожного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агента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(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модель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інструкції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функції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).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Підтримка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різноманітних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профілів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поведінки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Гнучка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маршрутизація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делегування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Можливість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інтеграції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людини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в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цикл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виконання</a:t>
            </a:r>
            <a:endParaRPr sz="1400" b="0" dirty="0">
              <a:solidFill>
                <a:srgbClr val="1E2939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3831163"/>
            <a:ext cx="5486400" cy="1968228"/>
          </a:xfrm>
          <a:prstGeom prst="roundRect">
            <a:avLst/>
          </a:prstGeom>
          <a:solidFill>
            <a:srgbClr val="FDEDED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 dirty="0" err="1">
                <a:solidFill>
                  <a:srgbClr val="B43B3B"/>
                </a:solidFill>
                <a:latin typeface="Calibri"/>
              </a:rPr>
              <a:t>Недоліки</a:t>
            </a:r>
            <a:endParaRPr sz="1800" b="1" dirty="0">
              <a:solidFill>
                <a:srgbClr val="B43B3B"/>
              </a:solidFill>
              <a:latin typeface="Calibri"/>
            </a:endParaRPr>
          </a:p>
          <a:p>
            <a:endParaRPr sz="1800" b="1" dirty="0">
              <a:solidFill>
                <a:srgbClr val="B43B3B"/>
              </a:solidFill>
              <a:latin typeface="Calibri"/>
            </a:endParaRP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Прив'язка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однієї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мовної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екосистеми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Складність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розгортання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в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розподілених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корпоративних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.NET-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системах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Управління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станом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покладається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на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локальні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файли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або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оперативну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пам'ять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Відсутність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суворої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підтримки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транзакційності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pic>
        <p:nvPicPr>
          <p:cNvPr id="10" name="Google Shape;64;p13" descr="Google Shape;64;p13">
            <a:extLst>
              <a:ext uri="{FF2B5EF4-FFF2-40B4-BE49-F238E27FC236}">
                <a16:creationId xmlns:a16="http://schemas.microsoft.com/office/drawing/2014/main" id="{286A93F3-D76E-9D83-6680-0006B530A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AutoGen: Enabling next-generation large language model applications -  Microsoft Research">
            <a:extLst>
              <a:ext uri="{FF2B5EF4-FFF2-40B4-BE49-F238E27FC236}">
                <a16:creationId xmlns:a16="http://schemas.microsoft.com/office/drawing/2014/main" id="{4E602F73-4818-547E-3176-9EAAA160D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357" y="2447732"/>
            <a:ext cx="5553918" cy="2766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АНАЛІЗ ПРЕДМЕТНОЇ ГАЛУЗІ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Огляд аналогів: CrewAI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6873" y="1255842"/>
            <a:ext cx="5486400" cy="1931914"/>
          </a:xfrm>
          <a:prstGeom prst="roundRect">
            <a:avLst/>
          </a:prstGeom>
          <a:solidFill>
            <a:srgbClr val="E8F5E9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 dirty="0" err="1">
                <a:solidFill>
                  <a:srgbClr val="2E7D4F"/>
                </a:solidFill>
                <a:latin typeface="Calibri"/>
              </a:rPr>
              <a:t>Переваги</a:t>
            </a:r>
            <a:endParaRPr sz="1800" b="1" dirty="0">
              <a:solidFill>
                <a:srgbClr val="2E7D4F"/>
              </a:solidFill>
              <a:latin typeface="Calibri"/>
            </a:endParaRPr>
          </a:p>
          <a:p>
            <a:pPr algn="just"/>
            <a:endParaRPr sz="1800" b="1" dirty="0">
              <a:solidFill>
                <a:srgbClr val="2E7D4F"/>
              </a:solidFill>
              <a:latin typeface="Calibri"/>
            </a:endParaRP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Орієнтація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на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рольову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імітацію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корпоративних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структур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Кожен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агент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має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чітку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посаду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бекграунд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мету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Висока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адаптивність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послідовних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бізнес-процесів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Вбудовані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засоби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управління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пам'яттю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для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передачі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контексту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873" y="3827836"/>
            <a:ext cx="5486400" cy="2174456"/>
          </a:xfrm>
          <a:prstGeom prst="roundRect">
            <a:avLst/>
          </a:prstGeom>
          <a:solidFill>
            <a:srgbClr val="FDEDED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 dirty="0" err="1">
                <a:solidFill>
                  <a:srgbClr val="B43B3B"/>
                </a:solidFill>
                <a:latin typeface="Calibri"/>
              </a:rPr>
              <a:t>Недоліки</a:t>
            </a:r>
            <a:endParaRPr sz="1800" b="1" dirty="0">
              <a:solidFill>
                <a:srgbClr val="B43B3B"/>
              </a:solidFill>
              <a:latin typeface="Calibri"/>
            </a:endParaRPr>
          </a:p>
          <a:p>
            <a:endParaRPr sz="1800" b="1" dirty="0">
              <a:solidFill>
                <a:srgbClr val="B43B3B"/>
              </a:solidFill>
              <a:latin typeface="Calibri"/>
            </a:endParaRP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Реалізовано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як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бібліотека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без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розмежування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архітектурних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шарів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Синхронне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блокування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потоків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під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час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довготривалих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викликів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LLM.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Зберігання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стану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без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підтримки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реляційних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баз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даних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Обмежені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можливості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горизонтального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масштабування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окремих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вузлів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pic>
        <p:nvPicPr>
          <p:cNvPr id="10" name="Google Shape;64;p13" descr="Google Shape;64;p13">
            <a:extLst>
              <a:ext uri="{FF2B5EF4-FFF2-40B4-BE49-F238E27FC236}">
                <a16:creationId xmlns:a16="http://schemas.microsoft.com/office/drawing/2014/main" id="{130C00D2-EF7A-7686-0387-9B6A6548E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Build agentic systems with CrewAI and Amazon Bedrock | Artificial  Intelligence">
            <a:extLst>
              <a:ext uri="{FF2B5EF4-FFF2-40B4-BE49-F238E27FC236}">
                <a16:creationId xmlns:a16="http://schemas.microsoft.com/office/drawing/2014/main" id="{75755F33-8E4B-7B28-27D3-BAE09169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168" y="1278282"/>
            <a:ext cx="5691182" cy="2765182"/>
          </a:xfrm>
          <a:prstGeom prst="rect">
            <a:avLst/>
          </a:prstGeom>
        </p:spPr>
      </p:pic>
      <p:pic>
        <p:nvPicPr>
          <p:cNvPr id="12" name="Picture 11" descr="Build agentic systems with CrewAI and Amazon Bedrock | Artificial  Intelligence">
            <a:extLst>
              <a:ext uri="{FF2B5EF4-FFF2-40B4-BE49-F238E27FC236}">
                <a16:creationId xmlns:a16="http://schemas.microsoft.com/office/drawing/2014/main" id="{4750BC4F-0135-706E-ABC6-46537247B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852" y="4278414"/>
            <a:ext cx="5522850" cy="1868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ФОРМУВАННЯ ВИМОГ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Постановка задачі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1371600"/>
          </a:xfrm>
          <a:prstGeom prst="roundRect">
            <a:avLst/>
          </a:prstGeom>
          <a:solidFill>
            <a:srgbClr val="FFF8E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FF8F00"/>
                </a:solidFill>
                <a:latin typeface="Calibri"/>
              </a:rPr>
              <a:t>Висновок з аналізу</a:t>
            </a:r>
          </a:p>
          <a:p>
            <a:endParaRPr sz="1800" b="1">
              <a:solidFill>
                <a:srgbClr val="FF8F00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Жоден існуючий аналог не поєднує .NET-персистентність, ізольоване виконання задач та відмовостійку асинхронність комунікацій.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11277295" cy="32004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142A4A"/>
                </a:solidFill>
                <a:latin typeface="Calibri"/>
              </a:rPr>
              <a:t>Ключові інженерні завдання</a:t>
            </a:r>
          </a:p>
          <a:p>
            <a:endParaRPr sz="1800" b="1">
              <a:solidFill>
                <a:srgbClr val="142A4A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Проєктування мікросервісної архітектури для ізоляції логіки та стану.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Розробка центрального бекенд-оркестратора (.NET, EF Core) для реляційного зберігання конфігурацій.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Забезпечення асинхронної взаємодії через брокер повідомлень (RabbitMQ).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Створення клієнтського вебдодатка (React) та API-шлюзу (YARP) для централізованої маршрутизації.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Контейнеризація всіх сервісів для кросплатформності (Docker / Compose).</a:t>
            </a:r>
          </a:p>
        </p:txBody>
      </p:sp>
      <p:pic>
        <p:nvPicPr>
          <p:cNvPr id="10" name="Google Shape;64;p13" descr="Google Shape;64;p13">
            <a:extLst>
              <a:ext uri="{FF2B5EF4-FFF2-40B4-BE49-F238E27FC236}">
                <a16:creationId xmlns:a16="http://schemas.microsoft.com/office/drawing/2014/main" id="{DE69CF6E-998D-EC15-5D78-9C946D7AC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АРХІТЕКТУРА ТА ПРОЄКТУВАННЯ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Вибір технологій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446" y="1760082"/>
            <a:ext cx="2722761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endParaRPr sz="1800" b="1" dirty="0">
              <a:solidFill>
                <a:srgbClr val="142A4A"/>
              </a:solidFill>
              <a:latin typeface="Calibri"/>
            </a:endParaRPr>
          </a:p>
          <a:p>
            <a:endParaRPr lang="en-US" sz="1400" b="0" dirty="0">
              <a:solidFill>
                <a:srgbClr val="1E2939"/>
              </a:solidFill>
              <a:latin typeface="Calibri"/>
            </a:endParaRP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Серверне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ядро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платформи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Оркестрація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бізнес-логіка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Висока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продуктивність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безпека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0477" y="1748721"/>
            <a:ext cx="2835969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lang="en-US" sz="1800" b="1" dirty="0">
                <a:solidFill>
                  <a:srgbClr val="142A4A"/>
                </a:solidFill>
                <a:latin typeface="Calibri"/>
              </a:rPr>
              <a:t>          </a:t>
            </a:r>
            <a:endParaRPr lang="uk-UA" sz="1800" b="1" dirty="0">
              <a:solidFill>
                <a:srgbClr val="142A4A"/>
              </a:solidFill>
              <a:latin typeface="Calibri"/>
            </a:endParaRPr>
          </a:p>
          <a:p>
            <a:pPr algn="ctr"/>
            <a:r>
              <a:rPr sz="1800" b="1" dirty="0">
                <a:solidFill>
                  <a:srgbClr val="142A4A"/>
                </a:solidFill>
                <a:latin typeface="Calibri"/>
              </a:rPr>
              <a:t>Entity Framework Core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Надійне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управління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станом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Транзакційна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цілісність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Міграції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Code-First (MS SQL Server).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2716" y="1760082"/>
            <a:ext cx="2866093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endParaRPr lang="uk-UA" sz="1400" b="0" dirty="0">
              <a:solidFill>
                <a:srgbClr val="1E2939"/>
              </a:solidFill>
              <a:latin typeface="Calibri"/>
            </a:endParaRP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Гарантована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доставка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задач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>
                <a:solidFill>
                  <a:srgbClr val="1E2939"/>
                </a:solidFill>
                <a:latin typeface="Calibri"/>
              </a:rPr>
              <a:t>Durable</a:t>
            </a:r>
            <a:r>
              <a:rPr lang="uk-UA"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lang="en-US" sz="1400" b="0" dirty="0">
                <a:solidFill>
                  <a:srgbClr val="1E2939"/>
                </a:solidFill>
                <a:latin typeface="Calibri"/>
              </a:rPr>
              <a:t>–</a:t>
            </a:r>
            <a:r>
              <a:rPr lang="uk-UA"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черги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  <a:endParaRPr lang="uk-UA" sz="1400" b="0" dirty="0">
              <a:solidFill>
                <a:srgbClr val="1E2939"/>
              </a:solidFill>
              <a:latin typeface="Calibri"/>
            </a:endParaRPr>
          </a:p>
          <a:p>
            <a:r>
              <a:rPr lang="uk-UA" sz="1400" dirty="0">
                <a:solidFill>
                  <a:srgbClr val="1E2939"/>
                </a:solidFill>
              </a:rPr>
              <a:t>Асинхронний брокер повідомлень.</a:t>
            </a:r>
            <a:endParaRPr sz="1400" b="0" dirty="0">
              <a:solidFill>
                <a:srgbClr val="1E2939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95893" y="1805745"/>
            <a:ext cx="2722761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just"/>
            <a:endParaRPr sz="1800" b="1" dirty="0">
              <a:solidFill>
                <a:srgbClr val="142A4A"/>
              </a:solidFill>
              <a:latin typeface="Calibri"/>
            </a:endParaRPr>
          </a:p>
          <a:p>
            <a:pPr algn="just"/>
            <a:r>
              <a:rPr sz="1400" b="0" dirty="0">
                <a:solidFill>
                  <a:srgbClr val="1E2939"/>
                </a:solidFill>
                <a:latin typeface="Calibri"/>
              </a:rPr>
              <a:t>WebSocket-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протокол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Двосторонній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зв'язок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Доставка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подій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у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реальному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часі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445" y="3931920"/>
            <a:ext cx="2722761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lang="en-US" sz="1800" b="1" dirty="0">
                <a:solidFill>
                  <a:srgbClr val="142A4A"/>
                </a:solidFill>
                <a:latin typeface="Calibri"/>
              </a:rPr>
              <a:t>       </a:t>
            </a:r>
            <a:r>
              <a:rPr sz="1800" b="1" dirty="0">
                <a:solidFill>
                  <a:srgbClr val="142A4A"/>
                </a:solidFill>
                <a:latin typeface="Calibri"/>
              </a:rPr>
              <a:t>YARP</a:t>
            </a:r>
            <a:endParaRPr lang="en-US" sz="1800" b="1" dirty="0">
              <a:solidFill>
                <a:srgbClr val="142A4A"/>
              </a:solidFill>
              <a:latin typeface="Calibri"/>
            </a:endParaRPr>
          </a:p>
          <a:p>
            <a:endParaRPr lang="en-US" sz="1800" b="1" dirty="0">
              <a:solidFill>
                <a:srgbClr val="142A4A"/>
              </a:solidFill>
              <a:latin typeface="Calibri"/>
            </a:endParaRPr>
          </a:p>
          <a:p>
            <a:pPr algn="ctr"/>
            <a:r>
              <a:rPr lang="en-US" sz="1400" b="0" dirty="0">
                <a:solidFill>
                  <a:srgbClr val="1E2939"/>
                </a:solidFill>
                <a:latin typeface="Calibri"/>
              </a:rPr>
              <a:t>API-</a:t>
            </a:r>
            <a:r>
              <a:rPr lang="uk-UA" sz="1400" b="0" dirty="0">
                <a:solidFill>
                  <a:srgbClr val="1E2939"/>
                </a:solidFill>
                <a:latin typeface="Calibri"/>
              </a:rPr>
              <a:t>шлюз</a:t>
            </a:r>
            <a:r>
              <a:rPr lang="uk-UA" sz="1400" dirty="0">
                <a:solidFill>
                  <a:srgbClr val="1E2939"/>
                </a:solidFill>
                <a:latin typeface="Calibri"/>
              </a:rPr>
              <a:t> та</a:t>
            </a:r>
            <a:r>
              <a:rPr lang="uk-UA" sz="1400" b="0" dirty="0">
                <a:solidFill>
                  <a:srgbClr val="1E2939"/>
                </a:solidFill>
                <a:latin typeface="Calibri"/>
              </a:rPr>
              <a:t> маршрутизація.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2716" y="3931920"/>
            <a:ext cx="2873834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endParaRPr sz="1800" b="1" dirty="0">
              <a:solidFill>
                <a:srgbClr val="142A4A"/>
              </a:solidFill>
              <a:latin typeface="Calibri"/>
            </a:endParaRPr>
          </a:p>
          <a:p>
            <a:pPr algn="just"/>
            <a:r>
              <a:rPr sz="1400" b="0" dirty="0" err="1">
                <a:solidFill>
                  <a:srgbClr val="1E2939"/>
                </a:solidFill>
                <a:latin typeface="Calibri"/>
              </a:rPr>
              <a:t>Контейнеризація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компонентів</a:t>
            </a:r>
            <a:endParaRPr sz="1400" b="0" dirty="0">
              <a:solidFill>
                <a:srgbClr val="1E2939"/>
              </a:solidFill>
              <a:latin typeface="Calibri"/>
            </a:endParaRPr>
          </a:p>
        </p:txBody>
      </p:sp>
      <p:pic>
        <p:nvPicPr>
          <p:cNvPr id="14" name="Google Shape;64;p13" descr="Google Shape;64;p13">
            <a:extLst>
              <a:ext uri="{FF2B5EF4-FFF2-40B4-BE49-F238E27FC236}">
                <a16:creationId xmlns:a16="http://schemas.microsoft.com/office/drawing/2014/main" id="{D0AED8BA-C880-AC73-FDE0-A9A56FB91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icture 12" descr="Budování .NET týmů v Praze a .NET Summer Events - MSPRO.CZ">
            <a:extLst>
              <a:ext uri="{FF2B5EF4-FFF2-40B4-BE49-F238E27FC236}">
                <a16:creationId xmlns:a16="http://schemas.microsoft.com/office/drawing/2014/main" id="{0B13BC13-12A9-2AD6-4941-0DB8CDCFE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396" y="1805745"/>
            <a:ext cx="530860" cy="530860"/>
          </a:xfrm>
          <a:prstGeom prst="rect">
            <a:avLst/>
          </a:prstGeom>
        </p:spPr>
      </p:pic>
      <p:pic>
        <p:nvPicPr>
          <p:cNvPr id="17" name="Picture 16" descr="Implementing database synchronization with entity framework core — Joche  Ojeda">
            <a:extLst>
              <a:ext uri="{FF2B5EF4-FFF2-40B4-BE49-F238E27FC236}">
                <a16:creationId xmlns:a16="http://schemas.microsoft.com/office/drawing/2014/main" id="{2F728E9E-4160-72FB-C482-20EFC1FAF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377" y="1918177"/>
            <a:ext cx="712169" cy="396143"/>
          </a:xfrm>
          <a:prstGeom prst="rect">
            <a:avLst/>
          </a:prstGeom>
        </p:spPr>
      </p:pic>
      <p:pic>
        <p:nvPicPr>
          <p:cNvPr id="21" name="Picture 20" descr="RabbitMQ - Virtualoco">
            <a:extLst>
              <a:ext uri="{FF2B5EF4-FFF2-40B4-BE49-F238E27FC236}">
                <a16:creationId xmlns:a16="http://schemas.microsoft.com/office/drawing/2014/main" id="{E0FAF62C-C306-BC4F-E1EF-FDC329361E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281" y="1878043"/>
            <a:ext cx="964962" cy="476412"/>
          </a:xfrm>
          <a:prstGeom prst="rect">
            <a:avLst/>
          </a:prstGeom>
        </p:spPr>
      </p:pic>
      <p:pic>
        <p:nvPicPr>
          <p:cNvPr id="22" name="Picture 21" descr="Technologies - SilverKey Technologies">
            <a:extLst>
              <a:ext uri="{FF2B5EF4-FFF2-40B4-BE49-F238E27FC236}">
                <a16:creationId xmlns:a16="http://schemas.microsoft.com/office/drawing/2014/main" id="{3F868B4B-6CB4-7D89-1AD0-0723DE8CE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3713" y="1877309"/>
            <a:ext cx="1087120" cy="500485"/>
          </a:xfrm>
          <a:prstGeom prst="rect">
            <a:avLst/>
          </a:prstGeom>
        </p:spPr>
      </p:pic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C16A1F35-70B2-2AFE-835D-C31D5B11100D}"/>
              </a:ext>
            </a:extLst>
          </p:cNvPr>
          <p:cNvSpPr/>
          <p:nvPr/>
        </p:nvSpPr>
        <p:spPr>
          <a:xfrm>
            <a:off x="3190477" y="3929857"/>
            <a:ext cx="2835969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endParaRPr sz="1800" b="1" dirty="0">
              <a:solidFill>
                <a:srgbClr val="142A4A"/>
              </a:solidFill>
              <a:latin typeface="Calibri"/>
            </a:endParaRPr>
          </a:p>
          <a:p>
            <a:endParaRPr lang="en-US" sz="1800" dirty="0">
              <a:solidFill>
                <a:srgbClr val="142A4A"/>
              </a:solidFill>
              <a:latin typeface="Calibri"/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інтерактивний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клієнтський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(SPA).</a:t>
            </a:r>
            <a:endParaRPr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 descr="YARP Icon">
            <a:extLst>
              <a:ext uri="{FF2B5EF4-FFF2-40B4-BE49-F238E27FC236}">
                <a16:creationId xmlns:a16="http://schemas.microsoft.com/office/drawing/2014/main" id="{410D722C-8B18-039A-E158-015FE45DE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502" y="4350047"/>
            <a:ext cx="481787" cy="481787"/>
          </a:xfrm>
          <a:prstGeom prst="rect">
            <a:avLst/>
          </a:prstGeom>
        </p:spPr>
      </p:pic>
      <p:pic>
        <p:nvPicPr>
          <p:cNvPr id="40" name="Picture 39" descr="React.js Folder Structure on Windows: A Comprehensive Guide | by Anant |  JavaScript in Plain English">
            <a:extLst>
              <a:ext uri="{FF2B5EF4-FFF2-40B4-BE49-F238E27FC236}">
                <a16:creationId xmlns:a16="http://schemas.microsoft.com/office/drawing/2014/main" id="{29638F1D-7461-52F3-4A38-8BB3865F0C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8636" y="4155995"/>
            <a:ext cx="1104972" cy="726064"/>
          </a:xfrm>
          <a:prstGeom prst="rect">
            <a:avLst/>
          </a:prstGeom>
        </p:spPr>
      </p:pic>
      <p:sp>
        <p:nvSpPr>
          <p:cNvPr id="42" name="Rounded Rectangle 11">
            <a:extLst>
              <a:ext uri="{FF2B5EF4-FFF2-40B4-BE49-F238E27FC236}">
                <a16:creationId xmlns:a16="http://schemas.microsoft.com/office/drawing/2014/main" id="{B120FBA4-09FB-5C7B-E29E-E471B51CC53B}"/>
              </a:ext>
            </a:extLst>
          </p:cNvPr>
          <p:cNvSpPr/>
          <p:nvPr/>
        </p:nvSpPr>
        <p:spPr>
          <a:xfrm>
            <a:off x="9201209" y="3929857"/>
            <a:ext cx="2726631" cy="201168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endParaRPr sz="1800" b="1" dirty="0">
              <a:solidFill>
                <a:srgbClr val="142A4A"/>
              </a:solidFill>
              <a:latin typeface="Calibri"/>
            </a:endParaRPr>
          </a:p>
          <a:p>
            <a:endParaRPr lang="en-US" sz="1400" b="0" dirty="0">
              <a:solidFill>
                <a:srgbClr val="1E2939"/>
              </a:solidFill>
              <a:latin typeface="Calibri"/>
            </a:endParaRPr>
          </a:p>
          <a:p>
            <a:pPr algn="just"/>
            <a:r>
              <a:rPr lang="en-US" sz="1400" dirty="0" err="1">
                <a:solidFill>
                  <a:srgbClr val="1E2939"/>
                </a:solidFill>
                <a:latin typeface="Calibri"/>
              </a:rPr>
              <a:t>C</a:t>
            </a:r>
            <a:r>
              <a:rPr sz="1400" dirty="0" err="1">
                <a:solidFill>
                  <a:srgbClr val="1E2939"/>
                </a:solidFill>
                <a:latin typeface="Calibri"/>
              </a:rPr>
              <a:t>ередовище</a:t>
            </a:r>
            <a:r>
              <a:rPr sz="140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9"/>
                </a:solidFill>
                <a:latin typeface="Calibri"/>
              </a:rPr>
              <a:t>розгортання</a:t>
            </a:r>
            <a:r>
              <a:rPr lang="uk-UA" sz="1400" dirty="0">
                <a:solidFill>
                  <a:srgbClr val="1E2939"/>
                </a:solidFill>
                <a:latin typeface="Calibri"/>
              </a:rPr>
              <a:t> та і</a:t>
            </a:r>
            <a:r>
              <a:rPr sz="1400" dirty="0" err="1">
                <a:solidFill>
                  <a:srgbClr val="1E2939"/>
                </a:solidFill>
                <a:latin typeface="Calibri"/>
              </a:rPr>
              <a:t>золяці</a:t>
            </a:r>
            <a:r>
              <a:rPr lang="uk-UA" sz="1400" dirty="0">
                <a:solidFill>
                  <a:srgbClr val="1E2939"/>
                </a:solidFill>
                <a:latin typeface="Calibri"/>
              </a:rPr>
              <a:t>ї</a:t>
            </a:r>
            <a:r>
              <a:rPr sz="140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E2939"/>
                </a:solidFill>
                <a:latin typeface="Calibri"/>
              </a:rPr>
              <a:t>процесів</a:t>
            </a:r>
            <a:r>
              <a:rPr sz="140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pic>
        <p:nvPicPr>
          <p:cNvPr id="43" name="Picture 42" descr="What is Docker and why it is used?">
            <a:extLst>
              <a:ext uri="{FF2B5EF4-FFF2-40B4-BE49-F238E27FC236}">
                <a16:creationId xmlns:a16="http://schemas.microsoft.com/office/drawing/2014/main" id="{9014FA4B-38FE-6161-77D1-93DD95E100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2228" y="4079350"/>
            <a:ext cx="1063198" cy="879353"/>
          </a:xfrm>
          <a:prstGeom prst="rect">
            <a:avLst/>
          </a:prstGeom>
        </p:spPr>
      </p:pic>
      <p:pic>
        <p:nvPicPr>
          <p:cNvPr id="45" name="Picture 44" descr="Everything You Need to Know about Docker Compose | Kubesimplify">
            <a:extLst>
              <a:ext uri="{FF2B5EF4-FFF2-40B4-BE49-F238E27FC236}">
                <a16:creationId xmlns:a16="http://schemas.microsoft.com/office/drawing/2014/main" id="{A4EEC23C-C220-677C-E488-C746A68449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6062" y="4232346"/>
            <a:ext cx="1193800" cy="5733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АРХІТЕКТУРА ТА ПРОЄКТУВАННЯ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Дизайн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системи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Принципи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7</a:t>
            </a:r>
          </a:p>
        </p:txBody>
      </p:sp>
      <p:pic>
        <p:nvPicPr>
          <p:cNvPr id="12" name="Google Shape;64;p13" descr="Google Shape;64;p13">
            <a:extLst>
              <a:ext uri="{FF2B5EF4-FFF2-40B4-BE49-F238E27FC236}">
                <a16:creationId xmlns:a16="http://schemas.microsoft.com/office/drawing/2014/main" id="{04151C80-4469-F148-2475-58C67C31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6C237A-573A-4FCE-2DF5-C2E22AA4B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314" y="1188720"/>
            <a:ext cx="5123691" cy="4484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АРХІТЕКТУРА ТА ПРОЄКТУВАННЯ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Загальна архітектура ПЗ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8</a:t>
            </a:r>
          </a:p>
        </p:txBody>
      </p:sp>
      <p:pic>
        <p:nvPicPr>
          <p:cNvPr id="15" name="Google Shape;64;p13" descr="Google Shape;64;p13">
            <a:extLst>
              <a:ext uri="{FF2B5EF4-FFF2-40B4-BE49-F238E27FC236}">
                <a16:creationId xmlns:a16="http://schemas.microsoft.com/office/drawing/2014/main" id="{1B08406E-862D-2901-F66F-8E399DEFB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EBE0C3-6175-79D7-141B-857B0A242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4012"/>
            <a:ext cx="12192000" cy="3436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ПРОГРАМНІ РІШЕННЯ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57342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Опис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ключових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сервісів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. API - </a:t>
            </a:r>
            <a:r>
              <a:rPr lang="uk-UA" sz="2800" b="1" dirty="0">
                <a:solidFill>
                  <a:srgbClr val="FFFFFF"/>
                </a:solidFill>
                <a:latin typeface="Calibri"/>
              </a:rPr>
              <a:t>шлюз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217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5B6672"/>
                </a:solidFill>
                <a:latin typeface="Calibri"/>
              </a:rPr>
              <a:t>9</a:t>
            </a:r>
          </a:p>
        </p:txBody>
      </p:sp>
      <p:pic>
        <p:nvPicPr>
          <p:cNvPr id="11" name="Google Shape;64;p13" descr="Google Shape;64;p13">
            <a:extLst>
              <a:ext uri="{FF2B5EF4-FFF2-40B4-BE49-F238E27FC236}">
                <a16:creationId xmlns:a16="http://schemas.microsoft.com/office/drawing/2014/main" id="{1A3AFD65-C690-25CA-940F-0AD08C7F5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DDB292-A2D6-3B58-6ABC-6329FF68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106" y="1439830"/>
            <a:ext cx="7727832" cy="49386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E236B-3304-A711-717E-DA2D7B0C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5A43-525F-5BD5-724F-9F5B4256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68" y="1116147"/>
            <a:ext cx="5995454" cy="57510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93C606-E255-F675-80F3-C9DDB5F28F9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F700E1-9C31-0B58-2D1E-0D0CBDA6F1B8}"/>
              </a:ext>
            </a:extLst>
          </p:cNvPr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EBB3F-613A-29CD-C126-E8A797E0426A}"/>
              </a:ext>
            </a:extLst>
          </p:cNvPr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ПРОГРАМНІ РІШЕННЯ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2EF31-F4C5-AD46-DAD2-C66E759702BA}"/>
              </a:ext>
            </a:extLst>
          </p:cNvPr>
          <p:cNvSpPr txBox="1"/>
          <p:nvPr/>
        </p:nvSpPr>
        <p:spPr>
          <a:xfrm>
            <a:off x="365760" y="365760"/>
            <a:ext cx="60354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Опис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ключових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сервісів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. </a:t>
            </a:r>
            <a:r>
              <a:rPr lang="uk-UA" sz="2800" b="1" dirty="0">
                <a:solidFill>
                  <a:srgbClr val="FFFFFF"/>
                </a:solidFill>
                <a:latin typeface="Calibri"/>
              </a:rPr>
              <a:t>Оркестратор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FCA43-53C9-0355-9ADB-970A7394D7B0}"/>
              </a:ext>
            </a:extLst>
          </p:cNvPr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uk-UA" sz="1400" b="1" dirty="0">
                <a:solidFill>
                  <a:srgbClr val="5B6672"/>
                </a:solidFill>
                <a:latin typeface="Calibri"/>
              </a:rPr>
              <a:t>10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pic>
        <p:nvPicPr>
          <p:cNvPr id="11" name="Google Shape;64;p13" descr="Google Shape;64;p13">
            <a:extLst>
              <a:ext uri="{FF2B5EF4-FFF2-40B4-BE49-F238E27FC236}">
                <a16:creationId xmlns:a16="http://schemas.microsoft.com/office/drawing/2014/main" id="{2233295B-76FA-790C-1B57-6C66CDCE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01139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3429-18C4-08F9-23DD-D704E20D5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939CC6-C168-4379-2716-EC1242F8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838" y="1097280"/>
            <a:ext cx="7630017" cy="57386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80ADE9-59FB-FE9E-BED3-DFFA6C7D34E7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C6125-1E6A-3FA6-685C-50AF5E39DBD4}"/>
              </a:ext>
            </a:extLst>
          </p:cNvPr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1C824-2E70-7463-2F77-6587D684BEA5}"/>
              </a:ext>
            </a:extLst>
          </p:cNvPr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ПРОГРАМНІ РІШЕННЯ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392E5-3AE1-618F-BF74-BF17CCFE87E6}"/>
              </a:ext>
            </a:extLst>
          </p:cNvPr>
          <p:cNvSpPr txBox="1"/>
          <p:nvPr/>
        </p:nvSpPr>
        <p:spPr>
          <a:xfrm>
            <a:off x="365760" y="365760"/>
            <a:ext cx="67636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Опис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ключових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сервісів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. </a:t>
            </a:r>
            <a:r>
              <a:rPr lang="uk-UA" sz="2800" b="1" dirty="0">
                <a:solidFill>
                  <a:srgbClr val="FFFFFF"/>
                </a:solidFill>
                <a:latin typeface="Calibri"/>
              </a:rPr>
              <a:t>Веб – застосунок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1893A-F742-5864-23EC-9A3759C9959F}"/>
              </a:ext>
            </a:extLst>
          </p:cNvPr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uk-UA" sz="1400" b="1" dirty="0">
                <a:solidFill>
                  <a:srgbClr val="5B6672"/>
                </a:solidFill>
                <a:latin typeface="Calibri"/>
              </a:rPr>
              <a:t>11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pic>
        <p:nvPicPr>
          <p:cNvPr id="11" name="Google Shape;64;p13" descr="Google Shape;64;p13">
            <a:extLst>
              <a:ext uri="{FF2B5EF4-FFF2-40B4-BE49-F238E27FC236}">
                <a16:creationId xmlns:a16="http://schemas.microsoft.com/office/drawing/2014/main" id="{8827112E-4C78-81FA-BBF7-1E27F0C75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098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946F21F-B0C6-3D45-8103-B019A2F55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681" y="1188720"/>
            <a:ext cx="5890331" cy="539102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ПРОГРАМНІ РІШЕННЯ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Практичне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застосування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Життєвий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цикл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>
                <a:solidFill>
                  <a:srgbClr val="5B6672"/>
                </a:solidFill>
                <a:latin typeface="Calibri"/>
              </a:rPr>
              <a:t>1</a:t>
            </a:r>
            <a:r>
              <a:rPr lang="uk-UA" sz="1400" b="1" dirty="0">
                <a:solidFill>
                  <a:srgbClr val="5B6672"/>
                </a:solidFill>
                <a:latin typeface="Calibri"/>
              </a:rPr>
              <a:t>2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pic>
        <p:nvPicPr>
          <p:cNvPr id="12" name="Google Shape;64;p13" descr="Google Shape;64;p13">
            <a:extLst>
              <a:ext uri="{FF2B5EF4-FFF2-40B4-BE49-F238E27FC236}">
                <a16:creationId xmlns:a16="http://schemas.microsoft.com/office/drawing/2014/main" id="{403AC41A-785D-C7D6-5CA9-8EC25908B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ТЕСТУВАННЯ ПЗ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Модульне тестування бізнес-логіки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>
                <a:solidFill>
                  <a:srgbClr val="5B6672"/>
                </a:solidFill>
                <a:latin typeface="Calibri"/>
              </a:rPr>
              <a:t>1</a:t>
            </a:r>
            <a:r>
              <a:rPr lang="uk-UA" sz="1400" b="1" dirty="0">
                <a:solidFill>
                  <a:srgbClr val="5B6672"/>
                </a:solidFill>
                <a:latin typeface="Calibri"/>
              </a:rPr>
              <a:t>3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13716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 dirty="0" err="1">
                <a:solidFill>
                  <a:srgbClr val="142A4A"/>
                </a:solidFill>
                <a:latin typeface="Calibri"/>
              </a:rPr>
              <a:t>Об'єкт</a:t>
            </a:r>
            <a:r>
              <a:rPr sz="1800" b="1" dirty="0">
                <a:solidFill>
                  <a:srgbClr val="142A4A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142A4A"/>
                </a:solidFill>
                <a:latin typeface="Calibri"/>
              </a:rPr>
              <a:t>тестування</a:t>
            </a:r>
            <a:endParaRPr sz="1800" b="1" dirty="0">
              <a:solidFill>
                <a:srgbClr val="142A4A"/>
              </a:solidFill>
              <a:latin typeface="Calibri"/>
            </a:endParaRPr>
          </a:p>
          <a:p>
            <a:endParaRPr sz="1800" b="1" dirty="0">
              <a:solidFill>
                <a:srgbClr val="142A4A"/>
              </a:solidFill>
              <a:latin typeface="Calibri"/>
            </a:endParaRP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Сервісний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шар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оркестратора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ChatService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AuthService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AgentService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1400" b="0" dirty="0" err="1">
                <a:solidFill>
                  <a:srgbClr val="1E2939"/>
                </a:solidFill>
                <a:latin typeface="Calibri"/>
              </a:rPr>
              <a:t>Перевірка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бізнес-правил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без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звернення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до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реальної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БД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E2939"/>
                </a:solidFill>
                <a:latin typeface="Calibri"/>
              </a:rPr>
              <a:t>брокера</a:t>
            </a:r>
            <a:r>
              <a:rPr sz="14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5394960" cy="27432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142A4A"/>
                </a:solidFill>
                <a:latin typeface="Calibri"/>
              </a:rPr>
              <a:t>Підхід та інструменти</a:t>
            </a:r>
          </a:p>
          <a:p>
            <a:endParaRPr sz="1800" b="1">
              <a:solidFill>
                <a:srgbClr val="142A4A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Патерн AAA (Arrange, Act, Assert).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Фреймворк xUnit.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Moq для макетування репозиторіїв та видавця повідомлень.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FluentAssertions для виразних тверджень.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00400"/>
            <a:ext cx="5394960" cy="27432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142A4A"/>
                </a:solidFill>
                <a:latin typeface="Calibri"/>
              </a:rPr>
              <a:t>Покриття</a:t>
            </a:r>
          </a:p>
          <a:p>
            <a:endParaRPr sz="1800" b="1">
              <a:solidFill>
                <a:srgbClr val="142A4A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Валідація сесій та приналежності розмов.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Перевірка генерації JWT токенів.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Обробка винятків (KeyNotFound, ForbiddenAccess).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Коректна публікація задач у чергу.</a:t>
            </a:r>
          </a:p>
        </p:txBody>
      </p:sp>
      <p:pic>
        <p:nvPicPr>
          <p:cNvPr id="11" name="Google Shape;64;p13" descr="Google Shape;64;p13">
            <a:extLst>
              <a:ext uri="{FF2B5EF4-FFF2-40B4-BE49-F238E27FC236}">
                <a16:creationId xmlns:a16="http://schemas.microsoft.com/office/drawing/2014/main" id="{0B18F7AA-640D-6B44-5FD7-342883F49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ТЕСТУВАННЯ ПЗ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Інтеграційне тестування API-шлюзу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>
                <a:solidFill>
                  <a:srgbClr val="5B6672"/>
                </a:solidFill>
                <a:latin typeface="Calibri"/>
              </a:rPr>
              <a:t>1</a:t>
            </a:r>
            <a:r>
              <a:rPr lang="uk-UA" sz="1400" b="1" dirty="0">
                <a:solidFill>
                  <a:srgbClr val="5B6672"/>
                </a:solidFill>
                <a:latin typeface="Calibri"/>
              </a:rPr>
              <a:t>4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13716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142A4A"/>
                </a:solidFill>
                <a:latin typeface="Calibri"/>
              </a:rPr>
              <a:t>Об'єкт тестування</a:t>
            </a:r>
          </a:p>
          <a:p>
            <a:endParaRPr sz="1800" b="1">
              <a:solidFill>
                <a:srgbClr val="142A4A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API-шлюз YARP як єдине ціле.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Перевірка конфігурації маршрутизації та політик безпеки без макетування внутрішніх компонентів шлюзу.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5394960" cy="27432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142A4A"/>
                </a:solidFill>
                <a:latin typeface="Calibri"/>
              </a:rPr>
              <a:t>Підхід</a:t>
            </a:r>
          </a:p>
          <a:p>
            <a:endParaRPr sz="1800" b="1">
              <a:solidFill>
                <a:srgbClr val="142A4A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WebApplicationFactory для запуску застосунку в пам'яті.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Ізольоване тестове середовище з HTTP-клієнтом.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00400"/>
            <a:ext cx="5394960" cy="274320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1800" b="1">
                <a:solidFill>
                  <a:srgbClr val="142A4A"/>
                </a:solidFill>
                <a:latin typeface="Calibri"/>
              </a:rPr>
              <a:t>Сценарії (RoutingConfigurationTests)</a:t>
            </a:r>
          </a:p>
          <a:p>
            <a:endParaRPr sz="1800" b="1">
              <a:solidFill>
                <a:srgbClr val="142A4A"/>
              </a:solidFill>
              <a:latin typeface="Calibri"/>
            </a:endParaRP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Перевищення ліміту запитів (очікується 429 Too Many Requests).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Валідація кінцевої точки /health (очікується 200 OK).</a:t>
            </a:r>
          </a:p>
          <a:p>
            <a:r>
              <a:rPr sz="1400" b="0">
                <a:solidFill>
                  <a:srgbClr val="1E2939"/>
                </a:solidFill>
                <a:latin typeface="Calibri"/>
              </a:rPr>
              <a:t>Маршрутизація /api/ та /hubs/ на правильні кластери.</a:t>
            </a:r>
          </a:p>
        </p:txBody>
      </p:sp>
      <p:pic>
        <p:nvPicPr>
          <p:cNvPr id="11" name="Google Shape;64;p13" descr="Google Shape;64;p13">
            <a:extLst>
              <a:ext uri="{FF2B5EF4-FFF2-40B4-BE49-F238E27FC236}">
                <a16:creationId xmlns:a16="http://schemas.microsoft.com/office/drawing/2014/main" id="{946A6822-7C07-EC9C-A129-746737B8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C0070-350E-661F-2629-773520AE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9CC7F36-38B8-F761-1507-A5EE3E8E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846" y="1097280"/>
            <a:ext cx="9692314" cy="49540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305D22-B9DA-285F-4A4F-9CA67D586202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7ECB1F-F39F-393E-ECCD-110BF1A78926}"/>
              </a:ext>
            </a:extLst>
          </p:cNvPr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8FF23-846C-134B-72FC-F7772A66C72C}"/>
              </a:ext>
            </a:extLst>
          </p:cNvPr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ТЕСТУВАННЯ ПЗ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BB25F-F9C3-4252-2113-6199A743A437}"/>
              </a:ext>
            </a:extLst>
          </p:cNvPr>
          <p:cNvSpPr txBox="1"/>
          <p:nvPr/>
        </p:nvSpPr>
        <p:spPr>
          <a:xfrm>
            <a:off x="365760" y="365760"/>
            <a:ext cx="72709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Інтеграційне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тестування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API-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шлюзу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. </a:t>
            </a:r>
            <a:r>
              <a:rPr lang="uk-UA" sz="2800" b="1" dirty="0">
                <a:solidFill>
                  <a:srgbClr val="FFFFFF"/>
                </a:solidFill>
                <a:latin typeface="Calibri"/>
              </a:rPr>
              <a:t>Метрики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4105D-1129-323D-1130-049A9C84AF2D}"/>
              </a:ext>
            </a:extLst>
          </p:cNvPr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>
                <a:solidFill>
                  <a:srgbClr val="5B6672"/>
                </a:solidFill>
                <a:latin typeface="Calibri"/>
              </a:rPr>
              <a:t>1</a:t>
            </a:r>
            <a:r>
              <a:rPr lang="uk-UA" sz="1400" b="1" dirty="0">
                <a:solidFill>
                  <a:srgbClr val="5B6672"/>
                </a:solidFill>
                <a:latin typeface="Calibri"/>
              </a:rPr>
              <a:t>5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pic>
        <p:nvPicPr>
          <p:cNvPr id="11" name="Google Shape;64;p13" descr="Google Shape;64;p13">
            <a:extLst>
              <a:ext uri="{FF2B5EF4-FFF2-40B4-BE49-F238E27FC236}">
                <a16:creationId xmlns:a16="http://schemas.microsoft.com/office/drawing/2014/main" id="{F690B600-34F3-065B-42DE-F82C296E5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608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CFEAE65-5123-E8D2-C029-23846214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757172"/>
            <a:ext cx="11475720" cy="45902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ВПРОВАДЖЕННЯ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FFFFF"/>
                </a:solidFill>
                <a:latin typeface="Calibri"/>
              </a:rPr>
              <a:t>Контейнеризація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та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</a:rPr>
              <a:t>розгортання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>
                <a:solidFill>
                  <a:srgbClr val="5B6672"/>
                </a:solidFill>
                <a:latin typeface="Calibri"/>
              </a:rPr>
              <a:t>1</a:t>
            </a:r>
            <a:r>
              <a:rPr lang="uk-UA" sz="1400" b="1" dirty="0">
                <a:solidFill>
                  <a:srgbClr val="5B6672"/>
                </a:solidFill>
                <a:latin typeface="Calibri"/>
              </a:rPr>
              <a:t>6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pic>
        <p:nvPicPr>
          <p:cNvPr id="10" name="Google Shape;64;p13" descr="Google Shape;64;p13">
            <a:extLst>
              <a:ext uri="{FF2B5EF4-FFF2-40B4-BE49-F238E27FC236}">
                <a16:creationId xmlns:a16="http://schemas.microsoft.com/office/drawing/2014/main" id="{61F83A1A-EDCF-3AB7-47BB-BECC8333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3D7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D7EE8"/>
                </a:solidFill>
                <a:latin typeface="Calibri"/>
              </a:rPr>
              <a:t>ВИСНОВКИ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Підсумки роботи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1232" y="6217920"/>
            <a:ext cx="367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dirty="0">
                <a:solidFill>
                  <a:srgbClr val="5B6672"/>
                </a:solidFill>
                <a:latin typeface="Calibri"/>
              </a:rPr>
              <a:t>1</a:t>
            </a:r>
            <a:r>
              <a:rPr lang="uk-UA" sz="1400" b="1" dirty="0">
                <a:solidFill>
                  <a:srgbClr val="5B6672"/>
                </a:solidFill>
                <a:latin typeface="Calibri"/>
              </a:rPr>
              <a:t>7</a:t>
            </a:r>
            <a:endParaRPr sz="1400" b="1" dirty="0">
              <a:solidFill>
                <a:srgbClr val="5B6672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2287" y="1802130"/>
            <a:ext cx="11247120" cy="3253740"/>
          </a:xfrm>
          <a:prstGeom prst="roundRect">
            <a:avLst/>
          </a:prstGeom>
          <a:solidFill>
            <a:srgbClr val="F3F6FB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/>
            <a:r>
              <a:rPr sz="2400" b="1" dirty="0" err="1">
                <a:solidFill>
                  <a:srgbClr val="142A4A"/>
                </a:solidFill>
                <a:latin typeface="Calibri"/>
              </a:rPr>
              <a:t>Досягнення</a:t>
            </a:r>
            <a:endParaRPr sz="2400" b="1" dirty="0">
              <a:solidFill>
                <a:srgbClr val="142A4A"/>
              </a:solidFill>
              <a:latin typeface="Calibri"/>
            </a:endParaRPr>
          </a:p>
          <a:p>
            <a:endParaRPr sz="1800" b="1" dirty="0">
              <a:solidFill>
                <a:srgbClr val="142A4A"/>
              </a:solidFill>
              <a:latin typeface="Calibri"/>
            </a:endParaRPr>
          </a:p>
          <a:p>
            <a:r>
              <a:rPr sz="2000" b="0" dirty="0">
                <a:solidFill>
                  <a:srgbClr val="1E2939"/>
                </a:solidFill>
                <a:latin typeface="Calibri"/>
              </a:rPr>
              <a:t>Спроєктовано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мікросервісну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архітектуру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з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чітким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розмежуванням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відповідальності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2000" b="0" dirty="0" err="1">
                <a:solidFill>
                  <a:srgbClr val="1E2939"/>
                </a:solidFill>
                <a:latin typeface="Calibri"/>
              </a:rPr>
              <a:t>Розроблено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.NET</a:t>
            </a:r>
            <a:r>
              <a:rPr lang="uk-UA"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lang="en-US" sz="2000" b="0" dirty="0">
                <a:solidFill>
                  <a:srgbClr val="1E2939"/>
                </a:solidFill>
                <a:latin typeface="Calibri"/>
              </a:rPr>
              <a:t>–</a:t>
            </a:r>
            <a:r>
              <a:rPr lang="uk-UA"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оркестратор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із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JWT</a:t>
            </a:r>
            <a:r>
              <a:rPr lang="uk-UA"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lang="en-US" sz="2000" b="0" dirty="0">
                <a:solidFill>
                  <a:srgbClr val="1E2939"/>
                </a:solidFill>
                <a:latin typeface="Calibri"/>
              </a:rPr>
              <a:t>–</a:t>
            </a:r>
            <a:r>
              <a:rPr lang="uk-UA"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автентифікацією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, EF Core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інтеграцією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RabbitMQ.</a:t>
            </a:r>
          </a:p>
          <a:p>
            <a:r>
              <a:rPr sz="2000" b="0" dirty="0" err="1">
                <a:solidFill>
                  <a:srgbClr val="1E2939"/>
                </a:solidFill>
                <a:latin typeface="Calibri"/>
              </a:rPr>
              <a:t>Реалізовано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неблокуючу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обробку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з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доставкою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подій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через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SignalR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API-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шлюз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.</a:t>
            </a:r>
          </a:p>
          <a:p>
            <a:r>
              <a:rPr sz="2000" b="0" dirty="0" err="1">
                <a:solidFill>
                  <a:srgbClr val="1E2939"/>
                </a:solidFill>
                <a:latin typeface="Calibri"/>
              </a:rPr>
              <a:t>Налаштовано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єдине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середовище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розгортання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за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допомогою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Docker Compose.</a:t>
            </a:r>
          </a:p>
          <a:p>
            <a:r>
              <a:rPr sz="2000" b="0" dirty="0" err="1">
                <a:solidFill>
                  <a:srgbClr val="1E2939"/>
                </a:solidFill>
                <a:latin typeface="Calibri"/>
              </a:rPr>
              <a:t>Забезпечено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якість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коду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через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комплексне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модульне</a:t>
            </a:r>
            <a:r>
              <a:rPr lang="en-US"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та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інтеграційне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E2939"/>
                </a:solidFill>
                <a:latin typeface="Calibri"/>
              </a:rPr>
              <a:t>тестування</a:t>
            </a:r>
            <a:r>
              <a:rPr sz="2000" b="0" dirty="0">
                <a:solidFill>
                  <a:srgbClr val="1E2939"/>
                </a:solidFill>
                <a:latin typeface="Calibri"/>
              </a:rPr>
              <a:t>.</a:t>
            </a:r>
          </a:p>
        </p:txBody>
      </p:sp>
      <p:pic>
        <p:nvPicPr>
          <p:cNvPr id="10" name="Google Shape;64;p13" descr="Google Shape;64;p13">
            <a:extLst>
              <a:ext uri="{FF2B5EF4-FFF2-40B4-BE49-F238E27FC236}">
                <a16:creationId xmlns:a16="http://schemas.microsoft.com/office/drawing/2014/main" id="{DF8F7E4F-0818-E0A8-2F98-25689E3C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3" y="6274751"/>
            <a:ext cx="654996" cy="441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235</TotalTime>
  <Words>660</Words>
  <Application>Microsoft Office PowerPoint</Application>
  <PresentationFormat>Widescreen</PresentationFormat>
  <Paragraphs>157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daniil</dc:creator>
  <cp:keywords/>
  <dc:description>generated using python-pptx</dc:description>
  <cp:lastModifiedBy>Daniil Ternovyi</cp:lastModifiedBy>
  <cp:revision>38</cp:revision>
  <dcterms:created xsi:type="dcterms:W3CDTF">2013-01-27T09:14:16Z</dcterms:created>
  <dcterms:modified xsi:type="dcterms:W3CDTF">2026-07-08T21:20:32Z</dcterms:modified>
  <cp:category/>
</cp:coreProperties>
</file>